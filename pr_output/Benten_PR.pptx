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1219200"/>
            <a:ext cx="8497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社内システム導入報告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50" y="1654076"/>
            <a:ext cx="8497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Benten管理システム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50" y="2568476"/>
            <a:ext cx="8497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7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新人教育と社員売上管理をひとつにまとめた業務支援ツール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50" y="3146227"/>
            <a:ext cx="1143000" cy="50750"/>
          </a:xfrm>
          <a:prstGeom prst="rect">
            <a:avLst/>
          </a:prstGeom>
          <a:solidFill>
            <a:srgbClr val="D99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3527078"/>
            <a:ext cx="1627138" cy="406301"/>
          </a:xfrm>
          <a:prstGeom prst="roundRect">
            <a:avLst>
              <a:gd name="adj" fmla="val 9377"/>
            </a:avLst>
          </a:prstGeom>
          <a:noFill/>
          <a:ln w="9525">
            <a:solidFill>
              <a:srgbClr val="6E7E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99976" y="3625453"/>
            <a:ext cx="1277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3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新人教育の見える化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92288" y="3527078"/>
            <a:ext cx="1758255" cy="406301"/>
          </a:xfrm>
          <a:prstGeom prst="roundRect">
            <a:avLst>
              <a:gd name="adj" fmla="val 9377"/>
            </a:avLst>
          </a:prstGeom>
          <a:noFill/>
          <a:ln w="9525">
            <a:solidFill>
              <a:srgbClr val="6E7E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79514" y="3625453"/>
            <a:ext cx="1411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3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売上管理のデジタル化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02944" y="3527078"/>
            <a:ext cx="1622822" cy="406301"/>
          </a:xfrm>
          <a:prstGeom prst="roundRect">
            <a:avLst>
              <a:gd name="adj" fmla="val 9377"/>
            </a:avLst>
          </a:prstGeom>
          <a:noFill/>
          <a:ln w="9525">
            <a:solidFill>
              <a:srgbClr val="6E7E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90170" y="3625453"/>
            <a:ext cx="12733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3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営業所限定アクセス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2750" y="4533900"/>
            <a:ext cx="113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作成者：星 莉斗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63607" y="4552950"/>
            <a:ext cx="680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39602"/>
          </a:xfrm>
          <a:prstGeom prst="rect">
            <a:avLst/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330101"/>
            <a:ext cx="7668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552301"/>
            <a:ext cx="7668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本日の内容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750" y="20984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3691" y="218420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96901" y="2146102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導入の背景と課題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6699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3691" y="275570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6901" y="2717602"/>
            <a:ext cx="11446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システム概要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750" y="32414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53691" y="332720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96901" y="3289102"/>
            <a:ext cx="11658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新人教育機能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750" y="38129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53691" y="389870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96901" y="3860602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社員売上管理機能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20984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12940" y="218420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56150" y="2146102"/>
            <a:ext cx="30895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セキュリティ：営業所限定アクセス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0" y="26699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12940" y="275570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56150" y="2717602"/>
            <a:ext cx="7772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導入効果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2414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12940" y="332720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56150" y="3289102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今後の展望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8129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12940" y="389870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56150" y="3860602"/>
            <a:ext cx="5829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8025"/>
          </a:xfrm>
          <a:prstGeom prst="rect">
            <a:avLst/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28600"/>
            <a:ext cx="7668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 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450800"/>
            <a:ext cx="76688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導入の背景と課題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50" y="1685627"/>
            <a:ext cx="4661446" cy="605730"/>
          </a:xfrm>
          <a:prstGeom prst="roundRect">
            <a:avLst>
              <a:gd name="adj" fmla="val 838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41325" y="1685627"/>
            <a:ext cx="0" cy="605730"/>
          </a:xfrm>
          <a:prstGeom prst="line">
            <a:avLst/>
          </a:prstGeom>
          <a:noFill/>
          <a:ln w="57150">
            <a:solidFill>
              <a:srgbClr val="D99A3C"/>
            </a:solidFill>
            <a:prstDash val="solid"/>
          </a:ln>
        </p:spPr>
      </p:sp>
      <p:pic>
        <p:nvPicPr>
          <p:cNvPr id="7" name="Image 0" descr="/private/tmp/claude-501/-Users-reito-NC-ITABASHI/786bc655-ba7a-476f-994b-2e65c6c97060/scratchpad/pr_deck/icons/doc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601" y="1825228"/>
            <a:ext cx="253901" cy="253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53902" y="1799927"/>
            <a:ext cx="3919445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紙の帳票や口頭伝達に頼った新人教育で、指導内容にばらつきが生じていた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2750" y="2405658"/>
            <a:ext cx="4661446" cy="605730"/>
          </a:xfrm>
          <a:prstGeom prst="roundRect">
            <a:avLst>
              <a:gd name="adj" fmla="val 838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41325" y="2405658"/>
            <a:ext cx="0" cy="605730"/>
          </a:xfrm>
          <a:prstGeom prst="line">
            <a:avLst/>
          </a:prstGeom>
          <a:noFill/>
          <a:ln w="57150">
            <a:solidFill>
              <a:srgbClr val="D99A3C"/>
            </a:solidFill>
            <a:prstDash val="solid"/>
          </a:ln>
        </p:spPr>
      </p:sp>
      <p:pic>
        <p:nvPicPr>
          <p:cNvPr id="11" name="Image 1" descr="/private/tmp/claude-501/-Users-reito-NC-ITABASHI/786bc655-ba7a-476f-994b-2e65c6c97060/scratchpad/pr_deck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01" y="2545259"/>
            <a:ext cx="253901" cy="2539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53902" y="2519958"/>
            <a:ext cx="3919445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シフトや面談の記録が個人管理となり、営業所全体で状況を共有しにくかった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12750" y="3125688"/>
            <a:ext cx="4661446" cy="605730"/>
          </a:xfrm>
          <a:prstGeom prst="roundRect">
            <a:avLst>
              <a:gd name="adj" fmla="val 838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41325" y="3125688"/>
            <a:ext cx="0" cy="605730"/>
          </a:xfrm>
          <a:prstGeom prst="line">
            <a:avLst/>
          </a:prstGeom>
          <a:noFill/>
          <a:ln w="57150">
            <a:solidFill>
              <a:srgbClr val="D99A3C"/>
            </a:solidFill>
            <a:prstDash val="solid"/>
          </a:ln>
        </p:spPr>
      </p:sp>
      <p:pic>
        <p:nvPicPr>
          <p:cNvPr id="15" name="Image 2" descr="/private/tmp/claude-501/-Users-reito-NC-ITABASHI/786bc655-ba7a-476f-994b-2e65c6c97060/scratchpad/pr_deck/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01" y="3265289"/>
            <a:ext cx="253901" cy="2539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53902" y="3239988"/>
            <a:ext cx="3919445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売上・走行データの集計を手作業で行っており、確認や取りまとめに時間がかかっていた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12750" y="3845719"/>
            <a:ext cx="4661446" cy="605730"/>
          </a:xfrm>
          <a:prstGeom prst="roundRect">
            <a:avLst>
              <a:gd name="adj" fmla="val 838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841325" y="3845719"/>
            <a:ext cx="0" cy="605730"/>
          </a:xfrm>
          <a:prstGeom prst="line">
            <a:avLst/>
          </a:prstGeom>
          <a:noFill/>
          <a:ln w="57150">
            <a:solidFill>
              <a:srgbClr val="D99A3C"/>
            </a:solidFill>
            <a:prstDash val="solid"/>
          </a:ln>
        </p:spPr>
      </p:sp>
      <p:pic>
        <p:nvPicPr>
          <p:cNvPr id="19" name="Image 3" descr="/private/tmp/claude-501/-Users-reito-NC-ITABASHI/786bc655-ba7a-476f-994b-2e65c6c97060/scratchpad/pr_deck/icons/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01" y="3985320"/>
            <a:ext cx="253901" cy="2539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53902" y="3960019"/>
            <a:ext cx="3919445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情報の保管場所やアクセス管理があいまいなまま、運用を続けていた</a:t>
            </a:r>
            <a:endParaRPr lang="en-US" sz="1100" dirty="0"/>
          </a:p>
        </p:txBody>
      </p:sp>
      <p:pic>
        <p:nvPicPr>
          <p:cNvPr id="21" name="Image 4" descr="/private/tmp/claude-501/-Users-reito-NC-ITABASHI/786bc655-ba7a-476f-994b-2e65c6c97060/scratchpad/pr_deck/icons/doc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599" y="2109788"/>
            <a:ext cx="2031950" cy="203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9526"/>
          </a:xfrm>
          <a:prstGeom prst="rect">
            <a:avLst/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79350"/>
            <a:ext cx="7668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 SYSTEM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501551"/>
            <a:ext cx="76688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システム概要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50" y="1539627"/>
            <a:ext cx="766886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新人管理・社員管理・シフト・報告・売上管理など、これまでバラバラだった業務をひとつの管理ツールにまとめた。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750" y="2085380"/>
            <a:ext cx="766886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営業所の管理画面と、乗務員が使うLINEでの入力をつなぎ、日々の情報をすぐに反映できるようにした。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5799" y="2838004"/>
            <a:ext cx="1905000" cy="1920776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 w="9525">
            <a:solidFill>
              <a:srgbClr val="DCE2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private/tmp/claude-501/-Users-reito-NC-ITABASHI/786bc655-ba7a-476f-994b-2e65c6c97060/scratchpad/pr_deck/icons/offic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99" y="3076129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97403" y="3812679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90191" y="4320629"/>
            <a:ext cx="10360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閲覧・登録・集計</a:t>
            </a:r>
            <a:endParaRPr lang="en-US" sz="1000" dirty="0"/>
          </a:p>
        </p:txBody>
      </p:sp>
      <p:pic>
        <p:nvPicPr>
          <p:cNvPr id="11" name="Image 1" descr="/private/tmp/claude-501/-Users-reito-NC-ITABASHI/786bc655-ba7a-476f-994b-2e65c6c97060/scratchpad/pr_deck/icons/arrow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50" y="3607891"/>
            <a:ext cx="381000" cy="381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9500" y="2876104"/>
            <a:ext cx="1905000" cy="1844576"/>
          </a:xfrm>
          <a:prstGeom prst="roundRect">
            <a:avLst>
              <a:gd name="adj" fmla="val 5508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private/tmp/claude-501/-Users-reito-NC-ITABASHI/786bc655-ba7a-476f-994b-2e65c6c97060/scratchpad/pr_deck/icons/grid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104704"/>
            <a:ext cx="609600" cy="609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4157" y="3841254"/>
            <a:ext cx="9156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管理システム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989071" y="4292054"/>
            <a:ext cx="1165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機能をひとつに集約</a:t>
            </a:r>
            <a:endParaRPr lang="en-US" sz="1000" dirty="0"/>
          </a:p>
        </p:txBody>
      </p:sp>
      <p:pic>
        <p:nvPicPr>
          <p:cNvPr id="16" name="Image 3" descr="/private/tmp/claude-501/-Users-reito-NC-ITABASHI/786bc655-ba7a-476f-994b-2e65c6c97060/scratchpad/pr_deck/icons/arrow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350" y="3607891"/>
            <a:ext cx="381000" cy="381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83201" y="2838004"/>
            <a:ext cx="1905000" cy="1920776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 w="9525">
            <a:solidFill>
              <a:srgbClr val="DCE2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/private/tmp/claude-501/-Users-reito-NC-ITABASHI/786bc655-ba7a-476f-994b-2e65c6c97060/scratchpad/pr_deck/icons/mobi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901" y="3076129"/>
            <a:ext cx="609600" cy="609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03098" y="3812679"/>
            <a:ext cx="66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乗務員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LINE入力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517593" y="4320629"/>
            <a:ext cx="10360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日々の報告・売上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9526"/>
          </a:xfrm>
          <a:prstGeom prst="rect">
            <a:avLst/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private/tmp/claude-501/-Users-reito-NC-ITABASHI/786bc655-ba7a-476f-994b-2e65c6c97060/scratchpad/pr_deck/icons/grad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50" y="388888"/>
            <a:ext cx="431750" cy="431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7651" y="279350"/>
            <a:ext cx="2539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 NEWCOMER TRAINING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47651" y="501551"/>
            <a:ext cx="25390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新人教育機能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42677" y="1744861"/>
            <a:ext cx="3397448" cy="1304627"/>
          </a:xfrm>
          <a:prstGeom prst="roundRect">
            <a:avLst>
              <a:gd name="adj" fmla="val 584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942677" y="1768673"/>
            <a:ext cx="3397448" cy="0"/>
          </a:xfrm>
          <a:prstGeom prst="line">
            <a:avLst/>
          </a:prstGeom>
          <a:noFill/>
          <a:ln w="47625">
            <a:solidFill>
              <a:srgbClr val="D99A3C"/>
            </a:solidFill>
            <a:prstDash val="solid"/>
          </a:ln>
        </p:spPr>
      </p:sp>
      <p:pic>
        <p:nvPicPr>
          <p:cNvPr id="8" name="Image 1" descr="/private/tmp/claude-501/-Users-reito-NC-ITABASHI/786bc655-ba7a-476f-994b-2e65c6c97060/scratchpad/pr_deck/icons/offic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277" y="1995636"/>
            <a:ext cx="330101" cy="3301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28329" y="2032099"/>
            <a:ext cx="122415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新人シフト管理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71277" y="2427238"/>
            <a:ext cx="29990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研修中の新人の勤務予定を一覧化し、営業所全体で誰がいつ勤務かを共有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803279" y="1744861"/>
            <a:ext cx="3397448" cy="1304627"/>
          </a:xfrm>
          <a:prstGeom prst="roundRect">
            <a:avLst>
              <a:gd name="adj" fmla="val 584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4803279" y="1768673"/>
            <a:ext cx="3397448" cy="0"/>
          </a:xfrm>
          <a:prstGeom prst="line">
            <a:avLst/>
          </a:prstGeom>
          <a:noFill/>
          <a:ln w="47625">
            <a:solidFill>
              <a:srgbClr val="D99A3C"/>
            </a:solidFill>
            <a:prstDash val="solid"/>
          </a:ln>
        </p:spPr>
      </p:sp>
      <p:pic>
        <p:nvPicPr>
          <p:cNvPr id="13" name="Image 2" descr="/private/tmp/claude-501/-Users-reito-NC-ITABASHI/786bc655-ba7a-476f-994b-2e65c6c97060/scratchpad/pr_deck/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879" y="1995636"/>
            <a:ext cx="330101" cy="3301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8930" y="2032099"/>
            <a:ext cx="2093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フォローリスト・面談記録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031879" y="2427238"/>
            <a:ext cx="29990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育成状況や気になる点を記録し、担当者が変わっても引き継げる状態にする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42677" y="3303389"/>
            <a:ext cx="3397448" cy="1304627"/>
          </a:xfrm>
          <a:prstGeom prst="roundRect">
            <a:avLst>
              <a:gd name="adj" fmla="val 584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942677" y="3327202"/>
            <a:ext cx="3397448" cy="0"/>
          </a:xfrm>
          <a:prstGeom prst="line">
            <a:avLst/>
          </a:prstGeom>
          <a:noFill/>
          <a:ln w="47625">
            <a:solidFill>
              <a:srgbClr val="D99A3C"/>
            </a:solidFill>
            <a:prstDash val="solid"/>
          </a:ln>
        </p:spPr>
      </p:sp>
      <p:pic>
        <p:nvPicPr>
          <p:cNvPr id="18" name="Image 3" descr="/private/tmp/claude-501/-Users-reito-NC-ITABASHI/786bc655-ba7a-476f-994b-2e65c6c97060/scratchpad/pr_deck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277" y="3554164"/>
            <a:ext cx="330101" cy="3301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28329" y="3590627"/>
            <a:ext cx="15739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研修ステータス管理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71277" y="3985766"/>
            <a:ext cx="29990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研修中から独り立ちまでの状態を明確に区分し、進捗を可視化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803279" y="3303389"/>
            <a:ext cx="3397448" cy="1304627"/>
          </a:xfrm>
          <a:prstGeom prst="roundRect">
            <a:avLst>
              <a:gd name="adj" fmla="val 584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4803279" y="3327202"/>
            <a:ext cx="3397448" cy="0"/>
          </a:xfrm>
          <a:prstGeom prst="line">
            <a:avLst/>
          </a:prstGeom>
          <a:noFill/>
          <a:ln w="47625">
            <a:solidFill>
              <a:srgbClr val="D99A3C"/>
            </a:solidFill>
            <a:prstDash val="solid"/>
          </a:ln>
        </p:spPr>
      </p:sp>
      <p:pic>
        <p:nvPicPr>
          <p:cNvPr id="23" name="Image 4" descr="/private/tmp/claude-501/-Users-reito-NC-ITABASHI/786bc655-ba7a-476f-994b-2e65c6c97060/scratchpad/pr_deck/icons/mobi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879" y="3554164"/>
            <a:ext cx="330101" cy="3301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8930" y="3590627"/>
            <a:ext cx="1622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LINEでの日々の報告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031879" y="3985766"/>
            <a:ext cx="29990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忘れ物や気づいたことをその場でLINEから送信し、指導側にすぐ共有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9526"/>
          </a:xfrm>
          <a:prstGeom prst="rect">
            <a:avLst/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private/tmp/claude-501/-Users-reito-NC-ITABASHI/786bc655-ba7a-476f-994b-2e65c6c97060/scratchpad/pr_deck/icons/char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50" y="388888"/>
            <a:ext cx="431750" cy="431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7651" y="279350"/>
            <a:ext cx="2470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 SALES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47651" y="501551"/>
            <a:ext cx="247016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社員売上管理機能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42677" y="1744861"/>
            <a:ext cx="3397448" cy="1304627"/>
          </a:xfrm>
          <a:prstGeom prst="roundRect">
            <a:avLst>
              <a:gd name="adj" fmla="val 584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942677" y="1768673"/>
            <a:ext cx="3397448" cy="0"/>
          </a:xfrm>
          <a:prstGeom prst="line">
            <a:avLst/>
          </a:prstGeom>
          <a:noFill/>
          <a:ln w="47625">
            <a:solidFill>
              <a:srgbClr val="D99A3C"/>
            </a:solidFill>
            <a:prstDash val="solid"/>
          </a:ln>
        </p:spPr>
      </p:sp>
      <p:pic>
        <p:nvPicPr>
          <p:cNvPr id="8" name="Image 1" descr="/private/tmp/claude-501/-Users-reito-NC-ITABASHI/786bc655-ba7a-476f-994b-2e65c6c97060/scratchpad/pr_deck/icons/mobi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277" y="1995636"/>
            <a:ext cx="330101" cy="3301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28329" y="2032099"/>
            <a:ext cx="17975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LINEでワンタップ入力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71277" y="2427238"/>
            <a:ext cx="29990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区分・金額・乗車回数などをその場でLINEから記録し、入力の手間を軽減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803279" y="1744861"/>
            <a:ext cx="3397448" cy="1304627"/>
          </a:xfrm>
          <a:prstGeom prst="roundRect">
            <a:avLst>
              <a:gd name="adj" fmla="val 584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4803279" y="1768673"/>
            <a:ext cx="3397448" cy="0"/>
          </a:xfrm>
          <a:prstGeom prst="line">
            <a:avLst/>
          </a:prstGeom>
          <a:noFill/>
          <a:ln w="47625">
            <a:solidFill>
              <a:srgbClr val="D99A3C"/>
            </a:solidFill>
            <a:prstDash val="solid"/>
          </a:ln>
        </p:spPr>
      </p:sp>
      <p:pic>
        <p:nvPicPr>
          <p:cNvPr id="13" name="Image 2" descr="/private/tmp/claude-501/-Users-reito-NC-ITABASHI/786bc655-ba7a-476f-994b-2e65c6c97060/scratchpad/pr_deck/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879" y="1995636"/>
            <a:ext cx="330101" cy="3301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8930" y="2032099"/>
            <a:ext cx="20985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月次自動集計・グラフ表示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031879" y="2427238"/>
            <a:ext cx="29990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手集計をなくし、実績をリアルタイムにグラフで確認できる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42677" y="3303389"/>
            <a:ext cx="3397448" cy="1304627"/>
          </a:xfrm>
          <a:prstGeom prst="roundRect">
            <a:avLst>
              <a:gd name="adj" fmla="val 584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942677" y="3327202"/>
            <a:ext cx="3397448" cy="0"/>
          </a:xfrm>
          <a:prstGeom prst="line">
            <a:avLst/>
          </a:prstGeom>
          <a:noFill/>
          <a:ln w="47625">
            <a:solidFill>
              <a:srgbClr val="D99A3C"/>
            </a:solidFill>
            <a:prstDash val="solid"/>
          </a:ln>
        </p:spPr>
      </p:sp>
      <p:pic>
        <p:nvPicPr>
          <p:cNvPr id="18" name="Image 3" descr="/private/tmp/claude-501/-Users-reito-NC-ITABASHI/786bc655-ba7a-476f-994b-2e65c6c97060/scratchpad/pr_deck/icons/doc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277" y="3554164"/>
            <a:ext cx="330101" cy="3301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28329" y="3590627"/>
            <a:ext cx="6995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PDF出力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71277" y="3985766"/>
            <a:ext cx="29990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集計結果をそのままPDFに出力し、報告資料として活用できる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803279" y="3303389"/>
            <a:ext cx="3397448" cy="1304627"/>
          </a:xfrm>
          <a:prstGeom prst="roundRect">
            <a:avLst>
              <a:gd name="adj" fmla="val 584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4803279" y="3327202"/>
            <a:ext cx="3397448" cy="0"/>
          </a:xfrm>
          <a:prstGeom prst="line">
            <a:avLst/>
          </a:prstGeom>
          <a:noFill/>
          <a:ln w="47625">
            <a:solidFill>
              <a:srgbClr val="D99A3C"/>
            </a:solidFill>
            <a:prstDash val="solid"/>
          </a:ln>
        </p:spPr>
      </p:sp>
      <p:pic>
        <p:nvPicPr>
          <p:cNvPr id="23" name="Image 4" descr="/private/tmp/claude-501/-Users-reito-NC-ITABASHI/786bc655-ba7a-476f-994b-2e65c6c97060/scratchpad/pr_deck/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879" y="3554164"/>
            <a:ext cx="330101" cy="3301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8930" y="3590627"/>
            <a:ext cx="14477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ODOメーター記録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031879" y="3985766"/>
            <a:ext cx="299905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運行の区切りをその場で記録・確認できる簡易ツールとして活用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304800"/>
            <a:ext cx="7668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 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50" y="527000"/>
            <a:ext cx="766886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営業所限定アクセスによる情報保護</a:t>
            </a:r>
            <a:endParaRPr lang="en-US" sz="2300" dirty="0"/>
          </a:p>
        </p:txBody>
      </p:sp>
      <p:pic>
        <p:nvPicPr>
          <p:cNvPr id="4" name="Image 0" descr="/private/tmp/claude-501/-Users-reito-NC-ITABASHI/786bc655-ba7a-476f-994b-2e65c6c97060/scratchpad/pr_deck/icons/shiel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55" y="1674912"/>
            <a:ext cx="1650950" cy="1650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7459" y="1642021"/>
            <a:ext cx="567491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E3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管理画面は、乗務員の運行管理で運用実績のある「スマタク」と同じ仕組みを採用し、営業所内からしかアクセスできない設計とした。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767459" y="2368302"/>
            <a:ext cx="5563642" cy="8888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営業所の外（自宅・外出先など）からは管理画面を開くことができない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特別なソフトの追加インストールは不要で、現場の運用負担は増やさない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社員情報・売上データを外部からの不正なアクセスから守る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750" y="4035623"/>
            <a:ext cx="3657600" cy="777776"/>
          </a:xfrm>
          <a:prstGeom prst="roundRect">
            <a:avLst>
              <a:gd name="adj" fmla="val 9797"/>
            </a:avLst>
          </a:prstGeom>
          <a:solidFill>
            <a:srgbClr val="D99A3C">
              <a:alpha val="16000"/>
            </a:srgbClr>
          </a:solidFill>
          <a:ln w="9525">
            <a:solidFill>
              <a:srgbClr val="D99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private/tmp/claude-501/-Users-reito-NC-ITABASHI/786bc655-ba7a-476f-994b-2e65c6c97060/scratchpad/pr_deck/icons/chec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75" y="4259461"/>
            <a:ext cx="330101" cy="3301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3376" y="4197548"/>
            <a:ext cx="14169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営業所内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533376" y="4451449"/>
            <a:ext cx="1416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管理画面にアクセス可能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73501" y="4035623"/>
            <a:ext cx="3657749" cy="777776"/>
          </a:xfrm>
          <a:prstGeom prst="roundRect">
            <a:avLst>
              <a:gd name="adj" fmla="val 97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4C5A6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/private/tmp/claude-501/-Users-reito-NC-ITABASHI/786bc655-ba7a-476f-994b-2e65c6c97060/scratchpad/pr_deck/icons/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626" y="4259461"/>
            <a:ext cx="330101" cy="3301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127" y="4197548"/>
            <a:ext cx="14169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営業所外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94127" y="4451449"/>
            <a:ext cx="1416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管理画面にアクセス不可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57126"/>
          </a:xfrm>
          <a:prstGeom prst="rect">
            <a:avLst/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03150"/>
            <a:ext cx="7668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 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425351"/>
            <a:ext cx="76688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導入効果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1101" y="1611957"/>
            <a:ext cx="1955899" cy="410170"/>
          </a:xfrm>
          <a:prstGeom prst="roundRect">
            <a:avLst>
              <a:gd name="adj" fmla="val 12385"/>
            </a:avLst>
          </a:prstGeom>
          <a:solidFill>
            <a:srgbClr val="0E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1726257"/>
            <a:ext cx="28493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68501" y="1611957"/>
            <a:ext cx="2641699" cy="410170"/>
          </a:xfrm>
          <a:prstGeom prst="roundRect">
            <a:avLst>
              <a:gd name="adj" fmla="val 12385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46202" y="1726257"/>
            <a:ext cx="4273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91051" y="1611957"/>
            <a:ext cx="2641848" cy="410170"/>
          </a:xfrm>
          <a:prstGeom prst="roundRect">
            <a:avLst>
              <a:gd name="adj" fmla="val 12385"/>
            </a:avLst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68752" y="1726257"/>
            <a:ext cx="4273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1101" y="2098328"/>
            <a:ext cx="1955899" cy="591741"/>
          </a:xfrm>
          <a:prstGeom prst="roundRect">
            <a:avLst>
              <a:gd name="adj" fmla="val 8585"/>
            </a:avLst>
          </a:prstGeom>
          <a:solidFill>
            <a:srgbClr val="EDE4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8802" y="2303413"/>
            <a:ext cx="56972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新人教育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68501" y="2098328"/>
            <a:ext cx="2641699" cy="591741"/>
          </a:xfrm>
          <a:prstGeom prst="roundRect">
            <a:avLst>
              <a:gd name="adj" fmla="val 858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46202" y="2303413"/>
            <a:ext cx="213224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B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指導内容が担当者ごとにばらつく</a:t>
            </a:r>
            <a:endParaRPr lang="en-US" sz="1100" dirty="0"/>
          </a:p>
        </p:txBody>
      </p:sp>
      <p:pic>
        <p:nvPicPr>
          <p:cNvPr id="15" name="Image 0" descr="/private/tmp/claude-501/-Users-reito-NC-ITABASHI/786bc655-ba7a-476f-994b-2e65c6c97060/scratchpad/pr_deck/icons/arrow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801" y="2292548"/>
            <a:ext cx="203150" cy="2031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791051" y="2098328"/>
            <a:ext cx="2641848" cy="591741"/>
          </a:xfrm>
          <a:prstGeom prst="roundRect">
            <a:avLst>
              <a:gd name="adj" fmla="val 858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968752" y="2212628"/>
            <a:ext cx="233217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状況を記録・共有し、指導のばらつきを軽減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1101" y="2766268"/>
            <a:ext cx="1955899" cy="591741"/>
          </a:xfrm>
          <a:prstGeom prst="roundRect">
            <a:avLst>
              <a:gd name="adj" fmla="val 8585"/>
            </a:avLst>
          </a:prstGeom>
          <a:solidFill>
            <a:srgbClr val="EDE4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88802" y="2971354"/>
            <a:ext cx="56972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売上管理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68501" y="2766268"/>
            <a:ext cx="2641699" cy="591741"/>
          </a:xfrm>
          <a:prstGeom prst="roundRect">
            <a:avLst>
              <a:gd name="adj" fmla="val 858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946202" y="2971354"/>
            <a:ext cx="19941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B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手作業での集計に時間がかかる</a:t>
            </a:r>
            <a:endParaRPr lang="en-US" sz="1100" dirty="0"/>
          </a:p>
        </p:txBody>
      </p:sp>
      <p:pic>
        <p:nvPicPr>
          <p:cNvPr id="22" name="Image 1" descr="/private/tmp/claude-501/-Users-reito-NC-ITABASHI/786bc655-ba7a-476f-994b-2e65c6c97060/scratchpad/pr_deck/icons/arrow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801" y="2960489"/>
            <a:ext cx="203150" cy="2031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791051" y="2766268"/>
            <a:ext cx="2641848" cy="591741"/>
          </a:xfrm>
          <a:prstGeom prst="roundRect">
            <a:avLst>
              <a:gd name="adj" fmla="val 858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968752" y="2880568"/>
            <a:ext cx="233217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LINE入力と自動集計でリアルタイムに把握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11101" y="3434209"/>
            <a:ext cx="1955899" cy="591741"/>
          </a:xfrm>
          <a:prstGeom prst="roundRect">
            <a:avLst>
              <a:gd name="adj" fmla="val 8585"/>
            </a:avLst>
          </a:prstGeom>
          <a:solidFill>
            <a:srgbClr val="EDE4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888802" y="3639294"/>
            <a:ext cx="56972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情報共有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768501" y="3434209"/>
            <a:ext cx="2641699" cy="591741"/>
          </a:xfrm>
          <a:prstGeom prst="roundRect">
            <a:avLst>
              <a:gd name="adj" fmla="val 858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946202" y="3548509"/>
            <a:ext cx="233202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B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個人管理で営業所全体に共有されにくい</a:t>
            </a:r>
            <a:endParaRPr lang="en-US" sz="1100" dirty="0"/>
          </a:p>
        </p:txBody>
      </p:sp>
      <p:pic>
        <p:nvPicPr>
          <p:cNvPr id="29" name="Image 2" descr="/private/tmp/claude-501/-Users-reito-NC-ITABASHI/786bc655-ba7a-476f-994b-2e65c6c97060/scratchpad/pr_deck/icons/arrow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801" y="3628430"/>
            <a:ext cx="203150" cy="2031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791051" y="3434209"/>
            <a:ext cx="2641848" cy="591741"/>
          </a:xfrm>
          <a:prstGeom prst="roundRect">
            <a:avLst>
              <a:gd name="adj" fmla="val 858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968752" y="3548509"/>
            <a:ext cx="233217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営業所全体でいつでも同じ情報を確認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11101" y="4102150"/>
            <a:ext cx="1955899" cy="410170"/>
          </a:xfrm>
          <a:prstGeom prst="roundRect">
            <a:avLst>
              <a:gd name="adj" fmla="val 12385"/>
            </a:avLst>
          </a:prstGeom>
          <a:solidFill>
            <a:srgbClr val="EDE4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888802" y="4216450"/>
            <a:ext cx="8504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セキュリティ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2768501" y="4102150"/>
            <a:ext cx="2641699" cy="410170"/>
          </a:xfrm>
          <a:prstGeom prst="roundRect">
            <a:avLst>
              <a:gd name="adj" fmla="val 1238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2946202" y="4216450"/>
            <a:ext cx="227039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B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アクセス管理があいまいなまま運用</a:t>
            </a:r>
            <a:endParaRPr lang="en-US" sz="1100" dirty="0"/>
          </a:p>
        </p:txBody>
      </p:sp>
      <p:pic>
        <p:nvPicPr>
          <p:cNvPr id="36" name="Image 3" descr="/private/tmp/claude-501/-Users-reito-NC-ITABASHI/786bc655-ba7a-476f-994b-2e65c6c97060/scratchpad/pr_deck/icons/arrow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801" y="4205585"/>
            <a:ext cx="203150" cy="20315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791051" y="4102150"/>
            <a:ext cx="2641848" cy="410170"/>
          </a:xfrm>
          <a:prstGeom prst="roundRect">
            <a:avLst>
              <a:gd name="adj" fmla="val 1238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968752" y="4216450"/>
            <a:ext cx="213088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営業所限定アクセスで安全に運用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825"/>
          </a:xfrm>
          <a:prstGeom prst="rect">
            <a:avLst/>
          </a:prstGeom>
          <a:solidFill>
            <a:srgbClr val="1623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190500"/>
            <a:ext cx="7668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 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412700"/>
            <a:ext cx="76688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今後の展望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50" y="1442145"/>
            <a:ext cx="7518499" cy="708422"/>
          </a:xfrm>
          <a:prstGeom prst="roundRect">
            <a:avLst>
              <a:gd name="adj" fmla="val 10756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41350" y="160585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9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85863" y="1696343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50950" y="1569095"/>
            <a:ext cx="45278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勤怠・シフト管理の自動化領域への拡張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50950" y="1842046"/>
            <a:ext cx="452787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現在の管理機能をベースに、勤怠周りの業務もあわせて効率化していく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750" y="2264866"/>
            <a:ext cx="7518499" cy="708422"/>
          </a:xfrm>
          <a:prstGeom prst="roundRect">
            <a:avLst>
              <a:gd name="adj" fmla="val 10756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1350" y="24285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9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85863" y="2519065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50950" y="2391817"/>
            <a:ext cx="38456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新人教育コンテンツのデジタル化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50950" y="2664768"/>
            <a:ext cx="38456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記録された育成状況をもとに、教育の標準化をさらに進める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2750" y="3087588"/>
            <a:ext cx="7518499" cy="708422"/>
          </a:xfrm>
          <a:prstGeom prst="roundRect">
            <a:avLst>
              <a:gd name="adj" fmla="val 10756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41350" y="325129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9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85863" y="3341787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50950" y="3214539"/>
            <a:ext cx="38456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売上データを活用した分析機能の強化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50950" y="3487489"/>
            <a:ext cx="38456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蓄積されたデータを振り返りや改善につなげる仕組みを検討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2750" y="3910310"/>
            <a:ext cx="7518499" cy="708422"/>
          </a:xfrm>
          <a:prstGeom prst="roundRect">
            <a:avLst>
              <a:gd name="adj" fmla="val 10756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1350" y="4074021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9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85863" y="4164509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50950" y="4037261"/>
            <a:ext cx="38371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他営業所への展開検討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50950" y="4310211"/>
            <a:ext cx="383716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同じ仕組みを他の拠点でも活用できるか、今後検討していく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762000"/>
            <a:ext cx="8497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50" y="1009650"/>
            <a:ext cx="8497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2800" dirty="0"/>
          </a:p>
        </p:txBody>
      </p:sp>
      <p:pic>
        <p:nvPicPr>
          <p:cNvPr id="4" name="Image 0" descr="/private/tmp/claude-501/-Users-reito-NC-ITABASHI/786bc655-ba7a-476f-994b-2e65c6c97060/scratchpad/pr_deck/icons/check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50" y="1923901"/>
            <a:ext cx="253901" cy="25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4352" y="1898600"/>
            <a:ext cx="453926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3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新人教育と社員売上管理を、ひとつの便利ツールに統合した</a:t>
            </a:r>
            <a:endParaRPr lang="en-US" sz="1300" dirty="0"/>
          </a:p>
        </p:txBody>
      </p:sp>
      <p:pic>
        <p:nvPicPr>
          <p:cNvPr id="6" name="Image 1" descr="/private/tmp/claude-501/-Users-reito-NC-ITABASHI/786bc655-ba7a-476f-994b-2e65c6c97060/scratchpad/pr_deck/icons/chec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50" y="2355503"/>
            <a:ext cx="253901" cy="2539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4352" y="2330202"/>
            <a:ext cx="554618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3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営業所限定アクセスの仕組みにより、安全に情報を運用できる体制とした</a:t>
            </a:r>
            <a:endParaRPr lang="en-US" sz="1300" dirty="0"/>
          </a:p>
        </p:txBody>
      </p:sp>
      <p:pic>
        <p:nvPicPr>
          <p:cNvPr id="8" name="Image 2" descr="/private/tmp/claude-501/-Users-reito-NC-ITABASHI/786bc655-ba7a-476f-994b-2e65c6c97060/scratchpad/pr_deck/icons/check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50" y="2787104"/>
            <a:ext cx="253901" cy="2539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4352" y="2761804"/>
            <a:ext cx="5707856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3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現場の入力負担を抑えながら、情報の質とスピードを高める取り組みである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12750" y="4387900"/>
            <a:ext cx="12253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作成者：星 莉斗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066211" y="4426000"/>
            <a:ext cx="129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Benten管理システム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Benten管理システム 導入報告</dc:title>
  <dc:subject>PptxGenJS Presentation</dc:subject>
  <dc:creator>星 莉斗</dc:creator>
  <cp:lastModifiedBy>星 莉斗</cp:lastModifiedBy>
  <cp:revision>1</cp:revision>
  <dcterms:created xsi:type="dcterms:W3CDTF">2026-07-23T03:42:14Z</dcterms:created>
  <dcterms:modified xsi:type="dcterms:W3CDTF">2026-07-23T03:42:14Z</dcterms:modified>
</cp:coreProperties>
</file>